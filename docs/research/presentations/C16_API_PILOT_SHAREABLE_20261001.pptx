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10b17ea3e94664" /><Relationship Type="http://schemas.openxmlformats.org/officeDocument/2006/relationships/extended-properties" Target="/docProps/app.xml" Id="R0b378995fe4e4da3" /><Relationship Type="http://schemas.openxmlformats.org/officeDocument/2006/relationships/officeDocument" Target="/ppt/presentation.xml" Id="R8923c91b41b944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7e42c3b2046f4"/>
  </p:sldMasterIdLst>
  <p:notesMasterIdLst>
    <p:notesMasterId xmlns:r="http://schemas.openxmlformats.org/officeDocument/2006/relationships" r:id="Rf322f55be04b40ca"/>
  </p:notesMasterIdLst>
  <p:sldIdLst>
    <p:sldId xmlns:r="http://schemas.openxmlformats.org/officeDocument/2006/relationships" id="256" r:id="R8e8c4855942149d7"/>
    <p:sldId xmlns:r="http://schemas.openxmlformats.org/officeDocument/2006/relationships" id="257" r:id="R81c00954e378499f"/>
    <p:sldId xmlns:r="http://schemas.openxmlformats.org/officeDocument/2006/relationships" id="258" r:id="Rf295a15ff1744dfa"/>
    <p:sldId xmlns:r="http://schemas.openxmlformats.org/officeDocument/2006/relationships" id="259" r:id="R3fb580c1617f4fe3"/>
    <p:sldId xmlns:r="http://schemas.openxmlformats.org/officeDocument/2006/relationships" id="260" r:id="R272373528eb34407"/>
    <p:sldId xmlns:r="http://schemas.openxmlformats.org/officeDocument/2006/relationships" id="261" r:id="Ra45ed27ec2b8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2878d77154b2a" /><Relationship Type="http://schemas.openxmlformats.org/officeDocument/2006/relationships/slideMaster" Target="/ppt/slideMasters/slideMaster1.xml" Id="Rce27e42c3b2046f4" /><Relationship Type="http://schemas.openxmlformats.org/officeDocument/2006/relationships/notesMaster" Target="/ppt/notesMasters/notesMaster1.xml" Id="Rf322f55be04b40ca" /><Relationship Type="http://schemas.openxmlformats.org/officeDocument/2006/relationships/presProps" Target="/ppt/presProps.xml" Id="Rafccac57becf43c5" /><Relationship Type="http://schemas.openxmlformats.org/officeDocument/2006/relationships/tableStyles" Target="/ppt/tableStyles.xml" Id="Rb99b5f1e0b5b4313" /><Relationship Type="http://schemas.openxmlformats.org/officeDocument/2006/relationships/slide" Target="/ppt/slides/slide1.xml" Id="R8e8c4855942149d7" /><Relationship Type="http://schemas.openxmlformats.org/officeDocument/2006/relationships/slide" Target="/ppt/slides/slide2.xml" Id="R81c00954e378499f" /><Relationship Type="http://schemas.openxmlformats.org/officeDocument/2006/relationships/slide" Target="/ppt/slides/slide3.xml" Id="Rf295a15ff1744dfa" /><Relationship Type="http://schemas.openxmlformats.org/officeDocument/2006/relationships/slide" Target="/ppt/slides/slide4.xml" Id="R3fb580c1617f4fe3" /><Relationship Type="http://schemas.openxmlformats.org/officeDocument/2006/relationships/slide" Target="/ppt/slides/slide5.xml" Id="R272373528eb34407" /><Relationship Type="http://schemas.openxmlformats.org/officeDocument/2006/relationships/slide" Target="/ppt/slides/slide6.xml" Id="Ra45ed27ec2b8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65916f87ff4c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53389c8358479e" /><Relationship Type="http://schemas.openxmlformats.org/officeDocument/2006/relationships/notesMaster" Target="/ppt/notesMasters/notesMaster1.xml" Id="R6d68d5581fdd46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0c1dbda6c4dd7" /><Relationship Type="http://schemas.openxmlformats.org/officeDocument/2006/relationships/notesMaster" Target="/ppt/notesMasters/notesMaster1.xml" Id="R50a2b42149b6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b0e964c43f4400" /><Relationship Type="http://schemas.openxmlformats.org/officeDocument/2006/relationships/notesMaster" Target="/ppt/notesMasters/notesMaster1.xml" Id="Rfbda60361e8448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ab96767ce94d60" /><Relationship Type="http://schemas.openxmlformats.org/officeDocument/2006/relationships/notesMaster" Target="/ppt/notesMasters/notesMaster1.xml" Id="R980c1ed1f56140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6db3ea126c4f8a" /><Relationship Type="http://schemas.openxmlformats.org/officeDocument/2006/relationships/notesMaster" Target="/ppt/notesMasters/notesMaster1.xml" Id="Rdc2a3b29df1743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7a88a2455b4f52" /><Relationship Type="http://schemas.openxmlformats.org/officeDocument/2006/relationships/notesMaster" Target="/ppt/notesMasters/notesMaster1.xml" Id="R8ff20f51ef88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docs/research/C16_real_api_pilot.md. This deck reports an engineering pilot, not a research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runtime configuration audit in company_runtime.py and resolved OpenAI config.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manifest.json from runs/c16-real-pilot-20261001, -v2, and -v3. All three runs ended with status=failed.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runs/c16-real-pilot-20261001-v3/s0_smoke/replicate-1/manifest.json and events.jsonl.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source: https://developers.openai.com/api/docs/models/gpt-6-luna. Cost is an estimate from recorded usage; provider billing is authoritative.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do not raise the token ceiling again before reducing per-tick model and embedding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d7216150a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96b21bf384881" /><Relationship Type="http://schemas.openxmlformats.org/officeDocument/2006/relationships/slideLayout" Target="/ppt/slideLayouts/slideLayout1.xml" Id="R46274aeab9d74d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74aeab9d74d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189724e8c4114" /><Relationship Type="http://schemas.openxmlformats.org/officeDocument/2006/relationships/notesSlide" Target="/ppt/notesSlides/notesSlide1.xml" Id="R16cf89498970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2a31db35f4fb3" /><Relationship Type="http://schemas.openxmlformats.org/officeDocument/2006/relationships/notesSlide" Target="/ppt/notesSlides/notesSlide2.xml" Id="Ra8680a3677144e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2ba32417a4c04" /><Relationship Type="http://schemas.openxmlformats.org/officeDocument/2006/relationships/notesSlide" Target="/ppt/notesSlides/notesSlide3.xml" Id="Re163a756bc0a44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669b3dfdf4c49" /><Relationship Type="http://schemas.openxmlformats.org/officeDocument/2006/relationships/chart" Target="/ppt/slides/charts/chart1.xml" Id="Rd29bd9e8442643e1" /><Relationship Type="http://schemas.openxmlformats.org/officeDocument/2006/relationships/notesSlide" Target="/ppt/notesSlides/notesSlide4.xml" Id="Reb08cf25c0f8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fde17db584eed" /><Relationship Type="http://schemas.openxmlformats.org/officeDocument/2006/relationships/notesSlide" Target="/ppt/notesSlides/notesSlide5.xml" Id="R1d0f53398fb2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f084e7489456e" /><Relationship Type="http://schemas.openxmlformats.org/officeDocument/2006/relationships/notesSlide" Target="/ppt/notesSlides/notesSlide6.xml" Id="Rdae095b45ca54b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API calls</c:v>
          </c:tx>
          <c:spPr>
            <a:solidFill xmlns:a="http://schemas.openxmlformats.org/drawingml/2006/main">
              <a:srgbClr val="0E7C7B"/>
            </a:solidFill>
          </c:spPr>
          <c:cat>
            <c:strRef>
              <c:f>'Chart Data'!$A$2:$A$4</c:f>
              <c:strCache>
                <c:ptCount val="3"/>
                <c:pt idx="0">
                  <c:v>Decision</c:v>
                </c:pt>
                <c:pt idx="1">
                  <c:v>Speech</c:v>
                </c:pt>
                <c:pt idx="2">
                  <c:v>Embedding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204</c:v>
                </c:pt>
                <c:pt idx="1">
                  <c:v>21</c:v>
                </c:pt>
                <c:pt idx="2">
                  <c:v>180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11672-C4B6-426B-A256-E6FBA8D0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4968A-E74A-49F8-A952-E4F4CF96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5DACF-6025-4304-B08B-23A1D8B4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C-16 실제 API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DBCCD-D698-4F03-B0B7-91FB4AEE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CE3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DCE3E8"/>
                </a:solidFill>
                <a:latin typeface="Apple SD Gothic Neo"/>
                <a:ea typeface="Apple SD Gothic Neo"/>
                <a:cs typeface="Apple SD Gothic Neo"/>
              </a:rPr>
              <a:t>20-agent 실행 결과와 다음 엔진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A0913-4497-4833-8A55-8AF962A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실제 API 연결 성공 · full-day run 미완주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BE202-91BC-42F7-A7F6-A7B452B2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0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9FB0BC"/>
                </a:solidFill>
                <a:latin typeface="Apple SD Gothic Neo"/>
                <a:ea typeface="Apple SD Gothic Neo"/>
                <a:cs typeface="Apple SD Gothic Neo"/>
              </a:rPr>
              <a:t>Hanbit Digital Systems  |  A1B1C1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6DB09-A7E4-4A05-9CA6-ED89D1EF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95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9FB0B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9FB0BC"/>
                </a:solidFill>
                <a:latin typeface="Apple SD Gothic Neo"/>
                <a:ea typeface="Apple SD Gothic Neo"/>
                <a:cs typeface="Apple SD Gothic Neo"/>
              </a:rPr>
              <a:t>2026-10-01</a:t>
            </a:r>
          </a:p>
        </p:txBody>
      </p:sp>
    </p:spTree>
    <p:extLst>
      <p:ext uri="{BB962C8B-B14F-4D97-AF65-F5344CB8AC3E}">
        <p14:creationId xmlns:p14="http://schemas.microsoft.com/office/powerpoint/2010/main" val="896436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6199F-3A66-49F2-92E4-6BDC58B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Pilot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FEEF-A566-4A4D-9BF5-026416C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1735F-6B46-4EBD-B8F8-C3E10B3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334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실제 API와 CRAFT 입력 경로를 먼저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10C1A-B2EE-40E0-B54E-18F9D5B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6BE0F-AB30-49BC-B7C2-E79663A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09274-BB3E-4925-A907-7D0C0353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F8679-5A5A-422F-B64C-EA4E5CB9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 s0_smoke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8DB00-E25B-42D0-8EF4-254DA01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0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C6D0D7"/>
                </a:solidFill>
                <a:latin typeface="Apple SD Gothic Neo"/>
                <a:ea typeface="Apple SD Gothic Neo"/>
                <a:cs typeface="Apple SD Gothic Neo"/>
              </a:rPr>
              <a:t>추가 condition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B8584-82AB-4BB7-910E-A292F21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F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9EFEC"/>
                </a:solidFill>
                <a:latin typeface="Apple SD Gothic Neo"/>
                <a:ea typeface="Apple SD Gothic Neo"/>
                <a:cs typeface="Apple SD Gothic Neo"/>
              </a:rPr>
              <a:t>Token safety cap</a:t>
            </a:r>
          </a:p>
          <a:p xmlns:a="http://schemas.openxmlformats.org/drawingml/2006/main">
            <a:pPr algn="l">
              <a:defRPr sz="1650" b="0">
                <a:solidFill>
                  <a:srgbClr val="D9EFE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D9EFEC"/>
                </a:solidFill>
                <a:latin typeface="Apple SD Gothic Neo"/>
                <a:ea typeface="Apple SD Gothic Neo"/>
                <a:cs typeface="Apple SD Gothic Neo"/>
              </a:rPr>
              <a:t>500,000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12C71-239A-412B-A2D1-3B7BE6B9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Runtime 언어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628D2-8469-4ECA-9AD9-6CEF33B2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2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F1FB5-B7AE-4081-A27A-8CC1E61E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634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Speaker ID는 HDS-001부터 HDS-020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CDD3F-D3C5-4867-A5EE-035AB5C0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81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08EB0-06DB-40B2-865F-E927AA35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76550"/>
            <a:ext cx="634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업무 목표와 persona는 영어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D2284-7083-46F7-B2A6-A17B862E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C9F34-0AEC-4F2F-927C-80CE6491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05200"/>
            <a:ext cx="634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생성 conversation도 영어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A451E-3B59-422D-918C-32F68C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9BC41-F1D5-4FC2-9780-206742E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634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한글 이름은 문서용 display_name에만 존재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1F972-D35A-433A-B0F8-0D03A63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F2F15-BB74-41B9-8E75-75C044F2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rPr>
              <a:t>CRAFT 입력에 한글 이름이 직접 들어가는 문제는 확인되지 않음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0A8D0-559B-4ECB-AFFC-E2E248F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C-16 API PILOT  |  2026-10-01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553C5-8887-4331-BFE8-1BCF21D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5164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FEB22-8E27-4436-A4EA-C2B672D2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실제 API 실행 3회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17C4-37C2-4CD4-83AC-96E05CD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C6A1F-AEEF-4256-89B5-7E9678B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334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각 실패가 다음 안전 설정을 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35E49-491A-4BE2-8525-0D4EA69E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D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7EFD6-B9C2-4F3F-BA4B-F9A6673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0A411-56F2-412A-9679-0470788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S0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825F3-A173-4BD7-BAD3-6DF7CB5F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daily plan 출력이 512-token 한도에서 잘림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3FB5E-3343-4868-AEA4-61FDDA1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9,895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05D0E-2B70-4B05-8F8D-0D6765BC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63EB6-C513-4F03-BEA2-6007359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D53D5-4B40-49A0-8A43-FD665D2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57929-885C-49C0-AAB7-1FC016E3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S0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4E9D1-95E1-4327-A40E-9666762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판단 한도 수정 후 100k 총 token 한도 도달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86017-1AC8-45D6-8840-17C02B7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100,767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37EB6-7428-4892-B50B-1588ACC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576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87595-E94A-45F7-97B3-623A81B8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F0269-FEC6-4DF0-961D-DC5F5D4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95C49-2326-43FB-9C0D-F334AE7B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1일 s0_smoke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CB7A5-496D-4318-8884-F2EA3D9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tick 5에서 500k token 안전 한도 도달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532D5-158B-40CB-BFFC-3B14ECF7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482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503,945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ABF1C-CEB8-4B66-88FB-D73E5F34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4825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428EC-2882-4A48-A41D-B4937AFA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C-16 API PILOT  |  2026-10-01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85E8B-C4B9-4084-BC38-840D87C3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9890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B4D4A-5837-4E54-AA3A-E80C9F1E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최종 시도에서 확인된 호출량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05AB6-6AFA-46F3-A93D-3D23F3F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49932-53F4-48D5-82BB-2D0A1008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334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tick 5까지 385개 event 기록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9bd9e8442643e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A77E9-D07D-4A11-9B4A-49917B2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rPr>
              <a:t>503,945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8B404-29A2-4ABF-B880-89018023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recorded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5965F-908A-48EB-A6CE-5EDD896B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67050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1864A-CCEF-44D4-A5AF-2A255096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575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893F9-E59E-49AB-8843-B6458C2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action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D0C08-A698-489F-8F63-61492A29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FDB29-1330-4BE4-9EFF-E7F5F58A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decision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3F093-FF2E-4908-A817-4C9DE900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148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A099-6992-4225-A5F4-4B3D229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session 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E4BA2-FEF3-4CBE-BFFF-588959CC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387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rPr>
              <a:t>tick 5에서 안전 중단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5ED6A-ABF5-42ED-A16F-8524DDC6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C-16 API PILOT  |  2026-10-01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F150-8BEE-4D25-9AB9-87979F8E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936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C0A72-5B22-4DE7-B55F-D37C06C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Pilot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A00D2-1A5E-4323-A06E-653AD18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5AACD-DF43-4500-91BD-2D085E54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334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연결은 검증됐고, full-day scale은 검증되지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9229D-1F7E-4C6A-BAC3-609BA2B3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E7C7B"/>
                </a:solidFill>
                <a:latin typeface="Apple SD Gothic Neo"/>
                <a:ea typeface="Apple SD Gothic Neo"/>
                <a:cs typeface="Apple SD Gothic Neo"/>
              </a:rPr>
              <a:t>정상 작동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33400-43C9-4053-BEE6-F98D1371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AB680-75C6-4E4C-940D-C18C4DCD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gpt-6-luna 접근과 structured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EEA24-DE7E-4AAE-A819-8255B94E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5A33-854E-44AB-92BF-49DC377B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20-agent 초기화와 영어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BC2C7-71F3-436C-BF6D-E8E73BF8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CD945-7650-40D5-9A76-B2BE7FCB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event 및 memory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46C47-B16C-4FAE-88EA-A586688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E8AB9-3F94-4822-8721-7C396E9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token 상한의 호출 차단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8F04A-7714-45ED-BB8B-C39A537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89D00-5D5B-46F1-ABC0-D96F7FD9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35D4F"/>
                </a:solidFill>
                <a:latin typeface="Apple SD Gothic Neo"/>
                <a:ea typeface="Apple SD Gothic Neo"/>
                <a:cs typeface="Apple SD Gothic Neo"/>
              </a:rPr>
              <a:t>확인하지 못함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92B55-9878-4BBB-82D1-B6BC0C8F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71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363C6-97B5-4D41-BA5B-A6864469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1일 32 ticks 완주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C1A58-A205-4068-8567-1D39C987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0FECC-17E9-4B2E-9D71-8D80F88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최종 task·relationship trajectory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21380-4D5A-4EF0-945D-9C426FA8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52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AF8E0-F633-487C-B9A3-A7578DE4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완성된 corpus와 CRAFT scoring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3B1A2-5D68-42DA-A055-FA2A17CC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43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686FB-1B77-48A6-ABAD-3390EE5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B"/>
                </a:solidFill>
                <a:latin typeface="Apple SD Gothic Neo"/>
                <a:ea typeface="Apple SD Gothic Neo"/>
                <a:cs typeface="Apple SD Gothic Neo"/>
              </a:rPr>
              <a:t>scenario 간 비교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789AC-CA07-49FC-A58D-F704880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47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D784B-A9C6-43BE-A881-4663C394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세 시도 합산 추정 비용  ≈  $0.08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83531-249B-4FCF-AB56-565B129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C6D0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6D0D7"/>
                </a:solidFill>
                <a:latin typeface="Apple SD Gothic Neo"/>
                <a:ea typeface="Apple SD Gothic Neo"/>
                <a:cs typeface="Apple SD Gothic Neo"/>
              </a:rPr>
              <a:t>최종 금액은 OpenAI billing dashboard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7C214-2122-445E-834E-92046F38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C-16 API PILOT  |  2026-10-01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24EAB-2CE4-4DC8-8E71-C28FCA2E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E6A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8605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A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F2499-561A-40F3-BB38-E42A6BBC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실행 전 엔진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BF78D-94F1-4AB3-9F63-4D92C6DB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7ABF2-373F-4C05-9678-76B9F248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E06BB-3EB2-43EC-8A15-11186B84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954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Decision과 validation retry를 tick별로 계측하고 제한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31CE-857D-4278-B1CE-0932F5E4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526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2722F-64B6-4076-885B-A2A73F3A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C32C0-268E-4DC9-A983-1584615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Retrieval·reflection embedding 호출을 batch 처리하거나 빈도 축소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250C7-712A-4283-8940-4FAFD56A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289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BF373-0E62-4CB8-8CAF-C07A15FC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19DB0-6703-4B7C-885B-5275BD91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Budget 소진 시 부분 summary와 checkpoint 저장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17A9E-B40E-404C-BD77-F702F784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052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FBE45-8299-4209-B64E-98A65E2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2C14E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0E29F-53F1-46E0-9018-7DCE9763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243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Scripted 32-tick regression 후 실제 pilot 비용 재산정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636C2-164F-4279-B5A0-CB2CDFFD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815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526C5-D34E-4934-885A-3FFD89F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76ACE-2398-45DF-BAA2-BF03C4E9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유료 run은 최적화와 새 비용 승인 이후 1회만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58FF6-C8A8-44E6-9C66-5584B4C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190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1909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2481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2026-10-01T22:53:13.6530000Z</dcterms:created>
  <dcterms:modified xsi:type="dcterms:W3CDTF">2026-10-01T22:53:13.6530000Z</dcterms:modified>
</coreProperties>
</file>